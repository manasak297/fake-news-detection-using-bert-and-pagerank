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30" r:id="rId3"/>
    <p:sldId id="427" r:id="rId4"/>
    <p:sldId id="428" r:id="rId5"/>
    <p:sldId id="429" r:id="rId6"/>
    <p:sldId id="431" r:id="rId7"/>
    <p:sldId id="433" r:id="rId8"/>
    <p:sldId id="432" r:id="rId9"/>
    <p:sldId id="436" r:id="rId10"/>
    <p:sldId id="434" r:id="rId11"/>
    <p:sldId id="437" r:id="rId12"/>
    <p:sldId id="438" r:id="rId13"/>
    <p:sldId id="439" r:id="rId14"/>
    <p:sldId id="440" r:id="rId15"/>
    <p:sldId id="435" r:id="rId16"/>
    <p:sldId id="441" r:id="rId17"/>
    <p:sldId id="442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EC1FF"/>
    <a:srgbClr val="FD9B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4" autoAdjust="0"/>
    <p:restoredTop sz="94638" autoAdjust="0"/>
  </p:normalViewPr>
  <p:slideViewPr>
    <p:cSldViewPr showGuides="1">
      <p:cViewPr varScale="1">
        <p:scale>
          <a:sx n="68" d="100"/>
          <a:sy n="68" d="100"/>
        </p:scale>
        <p:origin x="-122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505200" y="0"/>
            <a:ext cx="3352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MCA 203 , Data Base Management System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34400"/>
            <a:ext cx="5943600" cy="608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© </a:t>
            </a:r>
            <a:r>
              <a:rPr lang="en-US" dirty="0" err="1"/>
              <a:t>Bharati</a:t>
            </a:r>
            <a:r>
              <a:rPr lang="en-US" dirty="0"/>
              <a:t> </a:t>
            </a:r>
            <a:r>
              <a:rPr lang="en-US" dirty="0" err="1"/>
              <a:t>Vidyapeeth’s</a:t>
            </a:r>
            <a:r>
              <a:rPr lang="en-US" dirty="0"/>
              <a:t> Institute of Computer Applications and Management, </a:t>
            </a:r>
            <a:endParaRPr lang="en-US" dirty="0"/>
          </a:p>
          <a:p>
            <a:pPr>
              <a:defRPr/>
            </a:pPr>
            <a:r>
              <a:rPr lang="en-US" dirty="0"/>
              <a:t>New Delhi-63, By </a:t>
            </a:r>
            <a:r>
              <a:rPr lang="en-US" dirty="0" err="1"/>
              <a:t>Narinder</a:t>
            </a:r>
            <a:r>
              <a:rPr lang="en-US" dirty="0"/>
              <a:t> </a:t>
            </a:r>
            <a:r>
              <a:rPr lang="en-US" dirty="0" err="1"/>
              <a:t>Kaur</a:t>
            </a:r>
            <a:r>
              <a:rPr lang="en-US" dirty="0"/>
              <a:t> </a:t>
            </a:r>
            <a:r>
              <a:rPr lang="en-US" dirty="0" err="1"/>
              <a:t>Seera</a:t>
            </a:r>
            <a:r>
              <a:rPr lang="en-US" dirty="0"/>
              <a:t>, Asst. Professor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248400" y="8685213"/>
            <a:ext cx="60801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F082A16-F45E-4493-8FD8-E85E5106BC20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C5E7CA35-FD19-43F8-8A6B-CECBBC9F9D3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 bwMode="auto">
          <a:xfrm>
            <a:off x="0" y="6477000"/>
            <a:ext cx="9144000" cy="381000"/>
            <a:chOff x="0" y="4103"/>
            <a:chExt cx="5760" cy="217"/>
          </a:xfrm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0" y="4103"/>
              <a:ext cx="5760" cy="217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 userDrawn="1"/>
          </p:nvSpPr>
          <p:spPr bwMode="auto">
            <a:xfrm>
              <a:off x="50" y="4115"/>
              <a:ext cx="5290" cy="1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000" b="1" dirty="0">
                  <a:solidFill>
                    <a:schemeClr val="bg1"/>
                  </a:solidFill>
                </a:rPr>
                <a:t>© </a:t>
              </a:r>
              <a:r>
                <a:rPr lang="en-US" sz="1000" b="1" dirty="0" err="1">
                  <a:solidFill>
                    <a:schemeClr val="bg1"/>
                  </a:solidFill>
                </a:rPr>
                <a:t>WorldSUAS</a:t>
              </a:r>
              <a:r>
                <a:rPr lang="en-US" sz="1000" b="1" dirty="0">
                  <a:solidFill>
                    <a:schemeClr val="bg1"/>
                  </a:solidFill>
                </a:rPr>
                <a:t> </a:t>
              </a:r>
              <a:r>
                <a:rPr lang="en-US" sz="1000" b="1" baseline="0" dirty="0">
                  <a:solidFill>
                    <a:schemeClr val="bg1"/>
                  </a:solidFill>
                </a:rPr>
                <a:t>organized by Symbiosis University of Applied Sciences (SUAS), Indore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5441" y="4139"/>
              <a:ext cx="299" cy="1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800" b="1" u="sng" dirty="0">
                  <a:solidFill>
                    <a:schemeClr val="bg1"/>
                  </a:solidFill>
                  <a:cs typeface="+mn-cs"/>
                </a:rPr>
                <a:t>.</a:t>
              </a:r>
              <a:fld id="{D1CA6461-0EEA-4FB6-9A09-2E56E18B55A0}" type="slidenum">
                <a:rPr lang="en-US" sz="800" b="1" u="sng" smtClean="0">
                  <a:solidFill>
                    <a:schemeClr val="bg1"/>
                  </a:solidFill>
                  <a:cs typeface="+mn-cs"/>
                </a:rPr>
              </a:fld>
              <a:endParaRPr lang="en-US" sz="800" b="1" u="sng" dirty="0">
                <a:solidFill>
                  <a:schemeClr val="bg1"/>
                </a:solidFill>
                <a:cs typeface="+mn-cs"/>
              </a:endParaRPr>
            </a:p>
          </p:txBody>
        </p:sp>
      </p:grpSp>
      <p:sp>
        <p:nvSpPr>
          <p:cNvPr id="10" name="Rectangle 10"/>
          <p:cNvSpPr>
            <a:spLocks noChangeArrowheads="1"/>
          </p:cNvSpPr>
          <p:nvPr userDrawn="1"/>
        </p:nvSpPr>
        <p:spPr bwMode="auto">
          <a:xfrm>
            <a:off x="0" y="1219200"/>
            <a:ext cx="9144000" cy="4286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50863" y="1647885"/>
            <a:ext cx="8089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World Skills Conference on </a:t>
            </a:r>
            <a:endParaRPr lang="en-IN" sz="1800" b="1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IN" sz="1800" b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Universal Data Analytics and Sciences (</a:t>
            </a:r>
            <a:r>
              <a:rPr lang="en-IN" sz="1800" b="1" kern="12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WorldSUAS</a:t>
            </a:r>
            <a:r>
              <a:rPr lang="en-IN" sz="1800" b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lang="en-IN" sz="1800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IN" sz="1800" b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22-23 August 2025</a:t>
            </a:r>
            <a:endParaRPr lang="en-IN" sz="1800" b="1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endParaRPr lang="en-US" sz="2400" b="1" kern="1200" dirty="0">
              <a:solidFill>
                <a:srgbClr val="FF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Paper ID-</a:t>
            </a:r>
            <a:endParaRPr lang="en-US" sz="2400" b="1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Paper Title</a:t>
            </a:r>
            <a:r>
              <a:rPr lang="en-US" sz="2400" b="1" kern="120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“…….”</a:t>
            </a:r>
            <a:endParaRPr lang="en-US" sz="2400" b="1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endParaRPr lang="en-US" sz="2400" b="1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endParaRPr lang="en-US" sz="2400" b="1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1800" b="0" kern="120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Presented By:</a:t>
            </a:r>
            <a:endParaRPr lang="en-US" sz="1800" b="0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1800" b="0" kern="120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Author 1</a:t>
            </a:r>
            <a:endParaRPr lang="en-US" sz="1800" b="0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1800" b="0" kern="120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Author 2</a:t>
            </a:r>
            <a:endParaRPr lang="en-US" sz="1800" b="0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1800" b="0" kern="120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Author 3</a:t>
            </a:r>
            <a:endParaRPr lang="en-US" sz="1800" b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9" name="Picture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5" y="70231"/>
            <a:ext cx="9032876" cy="1034844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18288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8" y="1014413"/>
            <a:ext cx="8709025" cy="52244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Box 7"/>
          <p:cNvSpPr txBox="1">
            <a:spLocks noChangeArrowheads="1"/>
          </p:cNvSpPr>
          <p:nvPr userDrawn="1"/>
        </p:nvSpPr>
        <p:spPr bwMode="auto">
          <a:xfrm>
            <a:off x="8637588" y="6540207"/>
            <a:ext cx="474663" cy="247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800" b="1" u="sng" dirty="0">
                <a:solidFill>
                  <a:schemeClr val="bg1"/>
                </a:solidFill>
                <a:cs typeface="+mn-cs"/>
              </a:rPr>
              <a:t>.</a:t>
            </a:r>
            <a:fld id="{D1CA6461-0EEA-4FB6-9A09-2E56E18B55A0}" type="slidenum">
              <a:rPr lang="en-US" sz="800" b="1" u="sng" smtClean="0">
                <a:solidFill>
                  <a:schemeClr val="bg1"/>
                </a:solidFill>
                <a:cs typeface="+mn-cs"/>
              </a:rPr>
            </a:fld>
            <a:endParaRPr lang="en-US" sz="800" b="1" u="sng" dirty="0">
              <a:solidFill>
                <a:schemeClr val="bg1"/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888" y="1014413"/>
            <a:ext cx="4278312" cy="52244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014413"/>
            <a:ext cx="4278313" cy="52244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888" y="1014413"/>
            <a:ext cx="8709025" cy="52244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75450" y="274638"/>
            <a:ext cx="2176463" cy="596423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888" y="274638"/>
            <a:ext cx="6380162" cy="59642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42888" y="1014413"/>
            <a:ext cx="4278312" cy="52244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73600" y="1014413"/>
            <a:ext cx="4278313" cy="2535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73600" y="3702050"/>
            <a:ext cx="4278313" cy="25368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152400" y="142875"/>
            <a:ext cx="8767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2400"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70666" name="Rectangle 10"/>
          <p:cNvSpPr>
            <a:spLocks noChangeArrowheads="1"/>
          </p:cNvSpPr>
          <p:nvPr/>
        </p:nvSpPr>
        <p:spPr bwMode="auto">
          <a:xfrm>
            <a:off x="0" y="841375"/>
            <a:ext cx="9144000" cy="4286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0669" name="Rectangle 13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FF5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 userDrawn="1"/>
        </p:nvSpPr>
        <p:spPr bwMode="auto">
          <a:xfrm>
            <a:off x="79375" y="6498069"/>
            <a:ext cx="8397875" cy="245806"/>
          </a:xfrm>
          <a:prstGeom prst="rect">
            <a:avLst/>
          </a:prstGeom>
          <a:solidFill>
            <a:srgbClr val="FF5050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chemeClr val="bg1"/>
                </a:solidFill>
              </a:rPr>
              <a:t>© </a:t>
            </a:r>
            <a:r>
              <a:rPr lang="en-US" sz="1000" b="1" dirty="0" err="1">
                <a:solidFill>
                  <a:schemeClr val="bg1"/>
                </a:solidFill>
              </a:rPr>
              <a:t>WorldSUAS</a:t>
            </a: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en-US" sz="1000" b="1" baseline="0" dirty="0">
                <a:solidFill>
                  <a:schemeClr val="bg1"/>
                </a:solidFill>
              </a:rPr>
              <a:t>organized by Symbiosis University of Applied Sciences (SUAS), Indore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3"/>
        </a:buBlip>
        <a:defRPr sz="2400">
          <a:solidFill>
            <a:srgbClr val="000099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2200">
          <a:solidFill>
            <a:srgbClr val="993300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100">
          <a:solidFill>
            <a:srgbClr val="FF9900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6"/>
        </a:buBlip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3048000"/>
            <a:ext cx="6745287" cy="850900"/>
          </a:xfrm>
        </p:spPr>
        <p:txBody>
          <a:bodyPr/>
          <a:lstStyle/>
          <a:p>
            <a:r>
              <a:rPr lang="en-US" sz="1800" dirty="0" smtClean="0"/>
              <a:t>“Hybrid </a:t>
            </a:r>
            <a:r>
              <a:rPr lang="en-US" sz="1800" dirty="0" smtClean="0"/>
              <a:t>Fake News Detection Using BERT and Speaker Credibility Ranking via </a:t>
            </a:r>
            <a:r>
              <a:rPr lang="en-US" sz="1800" dirty="0" err="1" smtClean="0"/>
              <a:t>PageRank</a:t>
            </a:r>
            <a:r>
              <a:rPr lang="en-US" sz="1800" dirty="0" smtClean="0"/>
              <a:t>”</a:t>
            </a: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895600"/>
            <a:ext cx="1752599" cy="520700"/>
          </a:xfrm>
        </p:spPr>
        <p:txBody>
          <a:bodyPr/>
          <a:lstStyle/>
          <a:p>
            <a:r>
              <a:rPr lang="en-US" sz="1800" b="1" dirty="0" smtClean="0"/>
              <a:t>Paper ID   : 68</a:t>
            </a:r>
            <a:endParaRPr lang="en-US" sz="1800" b="1" dirty="0" smtClean="0"/>
          </a:p>
          <a:p>
            <a:r>
              <a:rPr lang="en-US" sz="1800" b="1" dirty="0" smtClean="0"/>
              <a:t>Paper Title : </a:t>
            </a:r>
            <a:endParaRPr lang="en-US"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495800"/>
            <a:ext cx="6477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		          Presented By: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		</a:t>
            </a:r>
            <a:r>
              <a:rPr lang="en-US" sz="1600" b="1" dirty="0" err="1" smtClean="0"/>
              <a:t>Chandrashekhar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Pomu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Chavan</a:t>
            </a:r>
            <a:r>
              <a:rPr lang="en-US" sz="1600" b="1" dirty="0" smtClean="0"/>
              <a:t> </a:t>
            </a:r>
            <a:br>
              <a:rPr lang="en-US" sz="1600" dirty="0" smtClean="0"/>
            </a:br>
            <a:r>
              <a:rPr lang="en-US" sz="1600" dirty="0" smtClean="0"/>
              <a:t>			</a:t>
            </a:r>
            <a:r>
              <a:rPr lang="en-US" sz="1600" dirty="0" err="1" smtClean="0"/>
              <a:t>Manasa</a:t>
            </a:r>
            <a:r>
              <a:rPr lang="en-US" sz="1600" dirty="0" smtClean="0"/>
              <a:t> K</a:t>
            </a:r>
            <a:endParaRPr lang="en-US" sz="1600" dirty="0" smtClean="0"/>
          </a:p>
          <a:p>
            <a:r>
              <a:rPr lang="en-US" sz="1600" dirty="0" smtClean="0"/>
              <a:t>			</a:t>
            </a:r>
            <a:r>
              <a:rPr lang="en-US" sz="1600" dirty="0" err="1" smtClean="0"/>
              <a:t>Haripriya</a:t>
            </a:r>
            <a:r>
              <a:rPr lang="en-IN" altLang="en-US" sz="1600" dirty="0" err="1" smtClean="0"/>
              <a:t> L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143000"/>
            <a:ext cx="5715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9" y="1014413"/>
            <a:ext cx="4862511" cy="5224462"/>
          </a:xfrm>
        </p:spPr>
        <p:txBody>
          <a:bodyPr/>
          <a:lstStyle/>
          <a:p>
            <a:r>
              <a:rPr lang="en-US" sz="2000" b="1" dirty="0" smtClean="0"/>
              <a:t>Fake news is a growing threat</a:t>
            </a:r>
            <a:r>
              <a:rPr lang="en-US" sz="2000" dirty="0" smtClean="0"/>
              <a:t> – spreads rapidly online, harming trust &amp; democracy.</a:t>
            </a:r>
            <a:endParaRPr lang="en-US" sz="2000" dirty="0" smtClean="0"/>
          </a:p>
          <a:p>
            <a:r>
              <a:rPr lang="en-US" sz="2000" b="1" dirty="0" smtClean="0"/>
              <a:t>Text-only models are limited</a:t>
            </a:r>
            <a:r>
              <a:rPr lang="en-US" sz="2000" dirty="0" smtClean="0"/>
              <a:t> – ignore </a:t>
            </a:r>
            <a:r>
              <a:rPr lang="en-US" sz="2000" i="1" dirty="0" smtClean="0"/>
              <a:t>who</a:t>
            </a:r>
            <a:r>
              <a:rPr lang="en-US" sz="2000" dirty="0" smtClean="0"/>
              <a:t> makes the claim.</a:t>
            </a:r>
            <a:endParaRPr lang="en-US" sz="2000" dirty="0" smtClean="0"/>
          </a:p>
          <a:p>
            <a:r>
              <a:rPr lang="en-US" sz="2000" b="1" dirty="0" smtClean="0"/>
              <a:t>Speaker credibility matters</a:t>
            </a:r>
            <a:r>
              <a:rPr lang="en-US" sz="2000" dirty="0" smtClean="0"/>
              <a:t> – history of truthfulness is crucial.</a:t>
            </a:r>
            <a:endParaRPr lang="en-US" sz="2000" dirty="0" smtClean="0"/>
          </a:p>
          <a:p>
            <a:r>
              <a:rPr lang="en-US" sz="2000" b="1" dirty="0" smtClean="0"/>
              <a:t>BERT captures semantics</a:t>
            </a:r>
            <a:r>
              <a:rPr lang="en-US" sz="2000" dirty="0" smtClean="0"/>
              <a:t> – understands context &amp; nuances in text.</a:t>
            </a:r>
            <a:endParaRPr lang="en-US" sz="2000" dirty="0" smtClean="0"/>
          </a:p>
          <a:p>
            <a:r>
              <a:rPr lang="en-US" sz="2000" b="1" dirty="0" smtClean="0"/>
              <a:t>Our hybrid approach</a:t>
            </a:r>
            <a:r>
              <a:rPr lang="en-US" sz="2000" dirty="0" smtClean="0"/>
              <a:t> – combines BERT + credibility + </a:t>
            </a:r>
            <a:r>
              <a:rPr lang="en-US" sz="2000" dirty="0" err="1" smtClean="0"/>
              <a:t>PageRank</a:t>
            </a:r>
            <a:r>
              <a:rPr lang="en-US" sz="2000" dirty="0" smtClean="0"/>
              <a:t> for trust-aware detection</a:t>
            </a:r>
            <a:endParaRPr lang="en-US" sz="2000" dirty="0" smtClean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124200" y="3810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Introduction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57800" y="1371600"/>
            <a:ext cx="3657600" cy="3190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Current models rely only on text → miss credibility aspects.</a:t>
            </a:r>
            <a:endParaRPr lang="en-US" sz="2400" dirty="0" smtClean="0"/>
          </a:p>
          <a:p>
            <a:r>
              <a:rPr lang="en-US" sz="2400" dirty="0" smtClean="0"/>
              <a:t>They cannot capture </a:t>
            </a:r>
            <a:r>
              <a:rPr lang="en-US" sz="2400" b="1" dirty="0" smtClean="0"/>
              <a:t>speaker influence</a:t>
            </a:r>
            <a:r>
              <a:rPr lang="en-US" sz="2400" dirty="0" smtClean="0"/>
              <a:t> in information networks.</a:t>
            </a:r>
            <a:endParaRPr lang="en-US" sz="2400" dirty="0" smtClean="0"/>
          </a:p>
          <a:p>
            <a:r>
              <a:rPr lang="en-US" sz="2400" dirty="0" smtClean="0"/>
              <a:t>Lack of trust-aware features (credibility scores, </a:t>
            </a:r>
            <a:r>
              <a:rPr lang="en-US" sz="2400" dirty="0" err="1" smtClean="0"/>
              <a:t>PageRank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dirty="0" smtClean="0"/>
              <a:t>Pure text models struggle with </a:t>
            </a:r>
            <a:r>
              <a:rPr lang="en-US" sz="2400" b="1" dirty="0" smtClean="0"/>
              <a:t>sarcasm, bias, and ambiguity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There is a need for a </a:t>
            </a:r>
            <a:r>
              <a:rPr lang="en-US" sz="2400" b="1" dirty="0" smtClean="0"/>
              <a:t>hybrid model</a:t>
            </a:r>
            <a:r>
              <a:rPr lang="en-US" sz="2400" dirty="0" smtClean="0"/>
              <a:t> that fuses text semantics with speaker credibility and influence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124200" y="3810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Problem Statement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Literature Review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863429"/>
            <a:ext cx="9144000" cy="558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       Proposed </a:t>
            </a:r>
            <a:r>
              <a:rPr lang="en-US" sz="4000" dirty="0" smtClean="0"/>
              <a:t>Method / Solution</a:t>
            </a:r>
            <a:endParaRPr lang="en-US" sz="4000" dirty="0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4797" y="1469924"/>
            <a:ext cx="7874405" cy="39181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       Proposed </a:t>
            </a:r>
            <a:r>
              <a:rPr lang="en-US" sz="4000" dirty="0" smtClean="0"/>
              <a:t>Method / Solution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1600200"/>
            <a:ext cx="8534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/>
              <a:t> Input</a:t>
            </a:r>
            <a:r>
              <a:rPr lang="en-US" sz="2000" dirty="0" smtClean="0"/>
              <a:t> </a:t>
            </a:r>
            <a:r>
              <a:rPr lang="en-US" sz="2000" dirty="0" smtClean="0"/>
              <a:t>→ Political statements + metadata (speaker, party, </a:t>
            </a:r>
            <a:r>
              <a:rPr lang="en-US" sz="2000" dirty="0" smtClean="0"/>
              <a:t>history).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/>
              <a:t>BERT </a:t>
            </a:r>
            <a:r>
              <a:rPr lang="en-US" sz="2000" b="1" dirty="0" smtClean="0"/>
              <a:t>Module</a:t>
            </a:r>
            <a:r>
              <a:rPr lang="en-US" sz="2000" dirty="0" smtClean="0"/>
              <a:t> → Extracts semantic embeddings (768-dim) from </a:t>
            </a:r>
            <a:r>
              <a:rPr lang="en-US" sz="2000" dirty="0" smtClean="0"/>
              <a:t>text.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/>
              <a:t>Credibility </a:t>
            </a:r>
            <a:r>
              <a:rPr lang="en-US" sz="2000" b="1" dirty="0" smtClean="0"/>
              <a:t>Module</a:t>
            </a:r>
            <a:r>
              <a:rPr lang="en-US" sz="2000" dirty="0" smtClean="0"/>
              <a:t> → Calculates speaker credibility score from past </a:t>
            </a:r>
            <a:r>
              <a:rPr lang="en-US" sz="2000" dirty="0" smtClean="0"/>
              <a:t>truthfulness.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 smtClean="0"/>
              <a:t>PageRank</a:t>
            </a:r>
            <a:r>
              <a:rPr lang="en-US" sz="2000" b="1" dirty="0" smtClean="0"/>
              <a:t> </a:t>
            </a:r>
            <a:r>
              <a:rPr lang="en-US" sz="2000" b="1" dirty="0" smtClean="0"/>
              <a:t>Module</a:t>
            </a:r>
            <a:r>
              <a:rPr lang="en-US" sz="2000" dirty="0" smtClean="0"/>
              <a:t> → Builds a speaker–topic graph, assigns influence </a:t>
            </a:r>
            <a:r>
              <a:rPr lang="en-US" sz="2000" dirty="0" smtClean="0"/>
              <a:t>scores.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0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/>
              <a:t>Fusion </a:t>
            </a:r>
            <a:r>
              <a:rPr lang="en-US" sz="2000" b="1" dirty="0" smtClean="0"/>
              <a:t>+ Classifier</a:t>
            </a:r>
            <a:r>
              <a:rPr lang="en-US" sz="2000" dirty="0" smtClean="0"/>
              <a:t> → Combine BERT + metadata + credibility + </a:t>
            </a:r>
            <a:r>
              <a:rPr lang="en-US" sz="2000" dirty="0" err="1" smtClean="0"/>
              <a:t>PageRank</a:t>
            </a:r>
            <a:r>
              <a:rPr lang="en-US" sz="2000" dirty="0" smtClean="0"/>
              <a:t> → Random Forest predicts truth label.</a:t>
            </a:r>
            <a:endParaRPr lang="en-US" sz="2000" dirty="0" smtClean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Dataset Used</a:t>
            </a:r>
            <a:r>
              <a:rPr lang="en-US" sz="2400" dirty="0" smtClean="0"/>
              <a:t> – LIAR Fake News Dataset (from </a:t>
            </a:r>
            <a:r>
              <a:rPr lang="en-US" sz="2400" dirty="0" err="1" smtClean="0"/>
              <a:t>Kaggle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Content</a:t>
            </a:r>
            <a:r>
              <a:rPr lang="en-US" sz="2400" dirty="0" smtClean="0"/>
              <a:t> – ~13K short political statements with metadata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Labels</a:t>
            </a:r>
            <a:r>
              <a:rPr lang="en-US" sz="2400" dirty="0" smtClean="0"/>
              <a:t> – Six classes: </a:t>
            </a:r>
            <a:r>
              <a:rPr lang="en-US" sz="2400" i="1" dirty="0" smtClean="0"/>
              <a:t>pants-fire, false, barely-true, half-true, mostly-true, true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Metadata</a:t>
            </a:r>
            <a:r>
              <a:rPr lang="en-US" sz="2400" dirty="0" smtClean="0"/>
              <a:t> – Speaker, party, job title, state, context, past truth counts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b="1" dirty="0" smtClean="0"/>
              <a:t>Split</a:t>
            </a:r>
            <a:r>
              <a:rPr lang="en-US" sz="2400" dirty="0" smtClean="0"/>
              <a:t> – ~10K training, ~1K validation, ~1K test.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   Dataset </a:t>
            </a:r>
            <a:r>
              <a:rPr lang="en-US" sz="4000" dirty="0" smtClean="0"/>
              <a:t>Description</a:t>
            </a:r>
            <a:endParaRPr lang="en-US" sz="40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   Dataset </a:t>
            </a:r>
            <a:r>
              <a:rPr lang="en-US" sz="4000" dirty="0" smtClean="0"/>
              <a:t>Description</a:t>
            </a:r>
            <a:endParaRPr lang="en-US" sz="40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6508" y="1692969"/>
            <a:ext cx="6521785" cy="386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		Results</a:t>
            </a:r>
            <a:endParaRPr lang="en-US" sz="40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3514" y="1454832"/>
            <a:ext cx="6267772" cy="4343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		Results</a:t>
            </a:r>
            <a:endParaRPr lang="en-US" sz="40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79249" y="1692969"/>
            <a:ext cx="7836303" cy="386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		Results</a:t>
            </a:r>
            <a:endParaRPr lang="en-US" sz="40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" y="1447800"/>
            <a:ext cx="480059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828800"/>
            <a:ext cx="3200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		Results</a:t>
            </a:r>
            <a:endParaRPr lang="en-US" sz="40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9600" y="1371600"/>
            <a:ext cx="7467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			</a:t>
            </a:r>
            <a:r>
              <a:rPr lang="en-US" sz="4000" dirty="0" smtClean="0"/>
              <a:t> </a:t>
            </a:r>
            <a:r>
              <a:rPr lang="en-US" sz="4000" dirty="0" smtClean="0"/>
              <a:t>  Conclusion</a:t>
            </a:r>
            <a:endParaRPr lang="en-US" sz="4000" dirty="0"/>
          </a:p>
        </p:txBody>
      </p:sp>
      <p:sp>
        <p:nvSpPr>
          <p:cNvPr id="921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600" y="1530074"/>
            <a:ext cx="8153400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hybrid fake news detection model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(BERT + metadata + credibility +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PageRank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Fusion approach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outperformed BERT-only and metadata-only baselines.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Credibility &amp;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PageRank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features added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trust-aware insights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Limitations: class imbalance, missing metadata, high BERT cost.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Future scope: model optimization &amp; handling subtle cues (e.g., sarcasm).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Graph Neural Networks (GNNs): </a:t>
            </a:r>
            <a:r>
              <a:rPr lang="en-US" sz="2000" dirty="0" smtClean="0"/>
              <a:t>Applying GNNs on speaker-topic graphs could better capture latent </a:t>
            </a:r>
            <a:r>
              <a:rPr lang="en-US" sz="2000" dirty="0" smtClean="0"/>
              <a:t>relationships. 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r>
              <a:rPr lang="en-US" sz="2000" b="1" dirty="0" smtClean="0"/>
              <a:t>Larger Language Models: </a:t>
            </a:r>
            <a:r>
              <a:rPr lang="en-US" sz="2000" dirty="0" smtClean="0"/>
              <a:t>Leveraging </a:t>
            </a:r>
            <a:r>
              <a:rPr lang="en-US" sz="2000" dirty="0" smtClean="0"/>
              <a:t>more advanced pre-trained models such as </a:t>
            </a:r>
            <a:r>
              <a:rPr lang="en-US" sz="2000" dirty="0" err="1" smtClean="0"/>
              <a:t>RoBERTa</a:t>
            </a:r>
            <a:r>
              <a:rPr lang="en-US" sz="2000" dirty="0" smtClean="0"/>
              <a:t>, GPT, or </a:t>
            </a:r>
            <a:r>
              <a:rPr lang="en-US" sz="2000" dirty="0" err="1" smtClean="0"/>
              <a:t>LLaMA</a:t>
            </a:r>
            <a:r>
              <a:rPr lang="en-US" sz="2000" dirty="0" smtClean="0"/>
              <a:t> may improve contextual understanding and generalization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Cross-Dataset </a:t>
            </a:r>
            <a:r>
              <a:rPr lang="en-US" sz="2000" b="1" dirty="0" smtClean="0"/>
              <a:t>Evaluation: </a:t>
            </a:r>
            <a:r>
              <a:rPr lang="en-US" sz="2000" dirty="0" smtClean="0"/>
              <a:t>Testing the model across multiple fact-checking datasets could validate its robustness and </a:t>
            </a:r>
            <a:r>
              <a:rPr lang="en-US" sz="2000" dirty="0" err="1" smtClean="0"/>
              <a:t>generalizability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Real-time </a:t>
            </a:r>
            <a:r>
              <a:rPr lang="en-US" sz="2000" b="1" dirty="0" smtClean="0"/>
              <a:t>Adaptability: </a:t>
            </a:r>
            <a:r>
              <a:rPr lang="en-US" sz="2000" dirty="0" smtClean="0"/>
              <a:t>Streamlining preprocessing and embedding generation to support online or real-time fake news detection pipelines. </a:t>
            </a: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                      Future </a:t>
            </a:r>
            <a:r>
              <a:rPr lang="en-US" sz="4000" dirty="0" smtClean="0"/>
              <a:t>Scope</a:t>
            </a:r>
            <a:endParaRPr lang="en-US" sz="40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9" y="1014413"/>
            <a:ext cx="4557711" cy="5224462"/>
          </a:xfrm>
        </p:spPr>
        <p:txBody>
          <a:bodyPr/>
          <a:lstStyle/>
          <a:p>
            <a:pPr>
              <a:buNone/>
            </a:pPr>
            <a:r>
              <a:rPr lang="en-US" sz="1400" dirty="0" smtClean="0"/>
              <a:t>       [</a:t>
            </a:r>
            <a:r>
              <a:rPr lang="en-US" sz="1400" dirty="0" smtClean="0"/>
              <a:t>18] S. </a:t>
            </a:r>
            <a:r>
              <a:rPr lang="en-US" sz="1400" dirty="0" err="1" smtClean="0"/>
              <a:t>Vosoughi</a:t>
            </a:r>
            <a:r>
              <a:rPr lang="en-US" sz="1400" dirty="0" smtClean="0"/>
              <a:t>, D. Roy, and S. Aral, "The Spread of True and False News Online," </a:t>
            </a:r>
            <a:r>
              <a:rPr lang="en-US" sz="1400" i="1" dirty="0" smtClean="0"/>
              <a:t>Science</a:t>
            </a:r>
            <a:r>
              <a:rPr lang="en-US" sz="1400" dirty="0" smtClean="0"/>
              <a:t>, 2018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r>
              <a:rPr lang="en-US" sz="1400" dirty="0" smtClean="0"/>
              <a:t>[19] J. Thorne and A. Vlachos, "Automated Fact Checking: Task Formulations, Methods and Future Directions," </a:t>
            </a:r>
            <a:r>
              <a:rPr lang="en-US" sz="1400" i="1" dirty="0" smtClean="0"/>
              <a:t>COLING</a:t>
            </a:r>
            <a:r>
              <a:rPr lang="en-US" sz="1400" dirty="0" smtClean="0"/>
              <a:t>, 2018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r>
              <a:rPr lang="en-US" sz="1400" dirty="0" smtClean="0"/>
              <a:t>[21] K. </a:t>
            </a:r>
            <a:r>
              <a:rPr lang="en-US" sz="1400" dirty="0" err="1" smtClean="0"/>
              <a:t>Shu</a:t>
            </a:r>
            <a:r>
              <a:rPr lang="en-US" sz="1400" dirty="0" smtClean="0"/>
              <a:t>, S. Wang, and H. Liu, "Understanding User Profiles on Social Media for Fake News Detection," </a:t>
            </a:r>
            <a:r>
              <a:rPr lang="en-US" sz="1400" i="1" dirty="0" smtClean="0"/>
              <a:t>ICDM</a:t>
            </a:r>
            <a:r>
              <a:rPr lang="en-US" sz="1400" dirty="0" smtClean="0"/>
              <a:t>, 2018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r>
              <a:rPr lang="en-US" sz="1400" dirty="0" smtClean="0"/>
              <a:t>[14] K. </a:t>
            </a:r>
            <a:r>
              <a:rPr lang="en-US" sz="1400" dirty="0" err="1" smtClean="0"/>
              <a:t>Shu</a:t>
            </a:r>
            <a:r>
              <a:rPr lang="en-US" sz="1400" dirty="0" smtClean="0"/>
              <a:t> et al., "</a:t>
            </a:r>
            <a:r>
              <a:rPr lang="en-US" sz="1400" dirty="0" err="1" smtClean="0"/>
              <a:t>FakeNewsTracker</a:t>
            </a:r>
            <a:r>
              <a:rPr lang="en-US" sz="1400" dirty="0" smtClean="0"/>
              <a:t>: A Tool for Fake News Collection, Detection, and Visualization," </a:t>
            </a:r>
            <a:r>
              <a:rPr lang="en-US" sz="1400" i="1" dirty="0" smtClean="0"/>
              <a:t>CMOT</a:t>
            </a:r>
            <a:r>
              <a:rPr lang="en-US" sz="1400" dirty="0" smtClean="0"/>
              <a:t>, 2019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r>
              <a:rPr lang="en-US" sz="1400" dirty="0" smtClean="0"/>
              <a:t>[24] F. </a:t>
            </a:r>
            <a:r>
              <a:rPr lang="en-US" sz="1400" dirty="0" err="1" smtClean="0"/>
              <a:t>Monti</a:t>
            </a:r>
            <a:r>
              <a:rPr lang="en-US" sz="1400" dirty="0" smtClean="0"/>
              <a:t> et al., "Fake News Detection on Social Media Using Geometric Deep Learning," </a:t>
            </a:r>
            <a:r>
              <a:rPr lang="en-US" sz="1400" i="1" dirty="0" err="1" smtClean="0"/>
              <a:t>arXiv</a:t>
            </a:r>
            <a:r>
              <a:rPr lang="en-US" sz="1400" dirty="0" smtClean="0"/>
              <a:t>, 2019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r>
              <a:rPr lang="en-US" sz="1400" dirty="0" smtClean="0"/>
              <a:t>[15] K. </a:t>
            </a:r>
            <a:r>
              <a:rPr lang="en-US" sz="1400" dirty="0" err="1" smtClean="0"/>
              <a:t>Shu</a:t>
            </a:r>
            <a:r>
              <a:rPr lang="en-US" sz="1400" dirty="0" smtClean="0"/>
              <a:t> et al., "</a:t>
            </a:r>
            <a:r>
              <a:rPr lang="en-US" sz="1400" dirty="0" err="1" smtClean="0"/>
              <a:t>FakeNewsNet</a:t>
            </a:r>
            <a:r>
              <a:rPr lang="en-US" sz="1400" dirty="0" smtClean="0"/>
              <a:t>: A Data Repository for Studying Fake News on Social Media," </a:t>
            </a:r>
            <a:r>
              <a:rPr lang="en-US" sz="1400" i="1" dirty="0" smtClean="0"/>
              <a:t>Big Data</a:t>
            </a:r>
            <a:r>
              <a:rPr lang="en-US" sz="1400" dirty="0" smtClean="0"/>
              <a:t>, 2020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buNone/>
            </a:pPr>
            <a:br>
              <a:rPr lang="en-US" sz="1400" dirty="0" smtClean="0"/>
            </a:br>
            <a:endParaRPr lang="en-IN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References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1600" y="990600"/>
            <a:ext cx="3276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[16] P. </a:t>
            </a:r>
            <a:r>
              <a:rPr lang="en-US" sz="1400" dirty="0" err="1" smtClean="0"/>
              <a:t>Meel</a:t>
            </a:r>
            <a:r>
              <a:rPr lang="en-US" sz="1400" dirty="0" smtClean="0"/>
              <a:t> and D. K. </a:t>
            </a:r>
            <a:r>
              <a:rPr lang="en-US" sz="1400" dirty="0" err="1" smtClean="0"/>
              <a:t>Vishwakarma</a:t>
            </a:r>
            <a:r>
              <a:rPr lang="en-US" sz="1400" dirty="0" smtClean="0"/>
              <a:t>, "Fake News, Rumor, and Information Pollution: A Contemporary Survey," </a:t>
            </a:r>
            <a:r>
              <a:rPr lang="en-US" sz="1400" i="1" dirty="0" smtClean="0"/>
              <a:t>Expert Systems with Applications</a:t>
            </a:r>
            <a:r>
              <a:rPr lang="en-US" sz="1400" dirty="0" smtClean="0"/>
              <a:t>, 2020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br>
              <a:rPr lang="en-US" sz="1400" dirty="0" smtClean="0"/>
            </a:br>
            <a:r>
              <a:rPr lang="en-US" sz="1400" dirty="0" smtClean="0"/>
              <a:t>[17] X. Zhou and R. </a:t>
            </a:r>
            <a:r>
              <a:rPr lang="en-US" sz="1400" dirty="0" err="1" smtClean="0"/>
              <a:t>Zafarani</a:t>
            </a:r>
            <a:r>
              <a:rPr lang="en-US" sz="1400" dirty="0" smtClean="0"/>
              <a:t>, "A Survey of Fake News: Theories, Detection Methods, and Opportunities," </a:t>
            </a:r>
            <a:r>
              <a:rPr lang="en-US" sz="1400" i="1" dirty="0" smtClean="0"/>
              <a:t>ACM Computing Surveys</a:t>
            </a:r>
            <a:r>
              <a:rPr lang="en-US" sz="1400" dirty="0" smtClean="0"/>
              <a:t>, 2020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br>
              <a:rPr lang="en-US" sz="1400" dirty="0" smtClean="0"/>
            </a:br>
            <a:r>
              <a:rPr lang="en-US" sz="1400" dirty="0" smtClean="0"/>
              <a:t>[11] B. </a:t>
            </a:r>
            <a:r>
              <a:rPr lang="en-US" sz="1400" dirty="0" err="1" smtClean="0"/>
              <a:t>Palani</a:t>
            </a:r>
            <a:r>
              <a:rPr lang="en-US" sz="1400" dirty="0" smtClean="0"/>
              <a:t> et al., "CB-Fake: A Multimodal Deep Learning Framework Using Capsule Network and BERT," </a:t>
            </a:r>
            <a:r>
              <a:rPr lang="en-US" sz="1400" i="1" dirty="0" smtClean="0"/>
              <a:t>Multimedia Tools and Applications</a:t>
            </a:r>
            <a:r>
              <a:rPr lang="en-US" sz="1400" dirty="0" smtClean="0"/>
              <a:t>, 2022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br>
              <a:rPr lang="en-US" sz="1400" dirty="0" smtClean="0"/>
            </a:br>
            <a:r>
              <a:rPr lang="en-US" sz="1400" dirty="0" smtClean="0"/>
              <a:t>[26] </a:t>
            </a:r>
            <a:r>
              <a:rPr lang="en-US" sz="1400" dirty="0" err="1" smtClean="0"/>
              <a:t>Kaggle</a:t>
            </a:r>
            <a:r>
              <a:rPr lang="en-US" sz="1400" dirty="0" smtClean="0"/>
              <a:t>, "LIAR Fake News Dataset," 2020.</a:t>
            </a:r>
            <a:endParaRPr lang="en-US" sz="14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6200"/>
            <a:ext cx="9144000" cy="707886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pPr algn="ctr"/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3581400"/>
            <a:ext cx="5486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FFC000"/>
                </a:solidFill>
                <a:latin typeface="Bradley Hand ITC" panose="03070402050302030203" pitchFamily="66" charset="0"/>
              </a:rPr>
              <a:t>THANK YOU</a:t>
            </a:r>
            <a:endParaRPr lang="en-US" sz="6600" b="1" dirty="0" smtClean="0">
              <a:solidFill>
                <a:srgbClr val="FFC000"/>
              </a:solidFill>
              <a:latin typeface="Bradley Hand ITC" panose="03070402050302030203" pitchFamily="66" charset="0"/>
            </a:endParaRPr>
          </a:p>
          <a:p>
            <a:endParaRPr lang="en-US" sz="6600" dirty="0"/>
          </a:p>
        </p:txBody>
      </p:sp>
      <p:sp>
        <p:nvSpPr>
          <p:cNvPr id="8" name="TextBox 7"/>
          <p:cNvSpPr txBox="1"/>
          <p:nvPr/>
        </p:nvSpPr>
        <p:spPr>
          <a:xfrm>
            <a:off x="1219200" y="2362200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“</a:t>
            </a:r>
            <a:r>
              <a:rPr lang="en-US" b="1" dirty="0" smtClean="0"/>
              <a:t>Hybrid Fake News Detection Using BERT and Speaker </a:t>
            </a:r>
            <a:endParaRPr lang="en-US" b="1" dirty="0" smtClean="0"/>
          </a:p>
          <a:p>
            <a:r>
              <a:rPr lang="en-US" b="1" dirty="0" smtClean="0"/>
              <a:t>	</a:t>
            </a:r>
            <a:r>
              <a:rPr lang="en-US" b="1" dirty="0" smtClean="0"/>
              <a:t>Credibility    Ranking </a:t>
            </a:r>
            <a:r>
              <a:rPr lang="en-US" b="1" dirty="0" smtClean="0"/>
              <a:t>via </a:t>
            </a:r>
            <a:r>
              <a:rPr lang="en-US" b="1" dirty="0" err="1" smtClean="0"/>
              <a:t>PageRank</a:t>
            </a:r>
            <a:r>
              <a:rPr lang="en-US" b="1" dirty="0" smtClean="0"/>
              <a:t>”</a:t>
            </a:r>
            <a:endParaRPr lang="en-US" b="1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Presentation_MC_HR_141004">
  <a:themeElements>
    <a:clrScheme name="1_Presentation_MC_HR_141004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MC_HR_141004">
      <a:majorFont>
        <a:latin typeface="Times New Roman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resentation_MC_HR_141004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MC_HR_141004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MC_HR_141004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MC_HR_141004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MC_HR_141004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MC_HR_141004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MC_HR_141004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4026</Words>
  <Application>WPS Presentation</Application>
  <PresentationFormat>On-screen Show (4:3)</PresentationFormat>
  <Paragraphs>120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Bradley Hand ITC</vt:lpstr>
      <vt:lpstr>Microsoft YaHei</vt:lpstr>
      <vt:lpstr>Arial Unicode MS</vt:lpstr>
      <vt:lpstr>1_Presentation_MC_HR_141004</vt:lpstr>
      <vt:lpstr>“Hybrid Fake News Detection Using BERT and Speaker Credibility Ranking via PageRank”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Dr.Singhal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</dc:title>
  <dc:creator>Dr.Singhal</dc:creator>
  <cp:lastModifiedBy>91797</cp:lastModifiedBy>
  <cp:revision>246</cp:revision>
  <dcterms:created xsi:type="dcterms:W3CDTF">2010-08-24T21:24:00Z</dcterms:created>
  <dcterms:modified xsi:type="dcterms:W3CDTF">2025-08-21T17:12:58Z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C55F2F83FF1043C6923F8327329ECF98_12</vt:lpwstr>
  </property>
  <property fmtid="{D5CDD505-2E9C-101B-9397-08002B2CF9AE}" pid="3" name="KSOProductBuildVer">
    <vt:lpwstr>1033-12.2.0.21931</vt:lpwstr>
  </property>
</Properties>
</file>